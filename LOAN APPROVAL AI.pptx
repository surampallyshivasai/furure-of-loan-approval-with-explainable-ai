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>
      <p:cViewPr varScale="1">
        <p:scale>
          <a:sx n="78" d="100"/>
          <a:sy n="78" d="100"/>
        </p:scale>
        <p:origin x="71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7ADCF-D579-4A01-8B7A-6A5DB057DD9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E1C7-A8AE-4764-926E-AC5AF85CD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47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4778-507D-4B0E-ADEA-C43F74EBB63F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88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3A78-189E-4F6B-B72A-E2867C3EEFA6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93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4FE-C4E5-4020-B253-D46AA13567E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8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B21C-9558-4F7D-B3B2-08256392EA40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3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2EF7-E4DF-44C0-9ABF-F1BBADE153E2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5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99A7-469F-4D4B-8DD5-1D555854896C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4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74BB-CFD4-49B1-9B76-73461FB341EA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3560302-B5F5-4CA8-B976-06FDB44A220E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C212-90CA-4E1E-88A9-2EFE63A4594A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94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9D8E-FC90-4501-B52F-714DFB77473A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8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81C-84BB-426F-B7DA-11A71AF7FE9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24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00AA49-9075-4230-8313-ABC599C4B7C9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0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28600"/>
            <a:ext cx="4838700" cy="125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400" y="2032698"/>
            <a:ext cx="50685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u="none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400" u="none" spc="-2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none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u="none" spc="-7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none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u="none" spc="-8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none" spc="-1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1570" y="2425128"/>
            <a:ext cx="7343140" cy="13587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045970">
              <a:lnSpc>
                <a:spcPct val="100000"/>
              </a:lnSpc>
              <a:spcBef>
                <a:spcPts val="795"/>
              </a:spcBef>
            </a:pP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MAJOR</a:t>
            </a:r>
            <a:r>
              <a:rPr sz="1800" b="1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PROJECT</a:t>
            </a:r>
            <a:endParaRPr sz="1800" dirty="0">
              <a:latin typeface="Times New Roman"/>
              <a:cs typeface="Times New Roman"/>
            </a:endParaRPr>
          </a:p>
          <a:p>
            <a:pPr marR="1781175" algn="ctr">
              <a:lnSpc>
                <a:spcPct val="100000"/>
              </a:lnSpc>
              <a:spcBef>
                <a:spcPts val="695"/>
              </a:spcBef>
            </a:pPr>
            <a:r>
              <a:rPr sz="18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FUTURE</a:t>
            </a:r>
            <a:r>
              <a:rPr sz="2000" b="1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20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LOAN</a:t>
            </a:r>
            <a:r>
              <a:rPr sz="20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APPROVALS</a:t>
            </a:r>
            <a:r>
              <a:rPr sz="2000" b="1" spc="-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WTH</a:t>
            </a:r>
            <a:r>
              <a:rPr sz="2000" b="1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D0D0D"/>
                </a:solidFill>
                <a:latin typeface="Times New Roman"/>
                <a:cs typeface="Times New Roman"/>
              </a:rPr>
              <a:t>EXPLAINABLE</a:t>
            </a:r>
            <a:r>
              <a:rPr sz="2000" b="1" spc="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-</a:t>
            </a:r>
            <a:r>
              <a:rPr sz="2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AI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605"/>
              </a:spcBef>
            </a:pPr>
            <a:endParaRPr lang="en-IN" sz="1400" b="1" u="sng" spc="-280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800" y="4303962"/>
            <a:ext cx="2597403" cy="1324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1600" algn="just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Times New Roman"/>
                <a:cs typeface="Times New Roman"/>
              </a:rPr>
              <a:t>SUBMITTED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BY: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ts val="1664"/>
              </a:lnSpc>
            </a:pPr>
            <a:r>
              <a:rPr sz="1400" dirty="0">
                <a:latin typeface="Times New Roman"/>
                <a:cs typeface="Times New Roman"/>
              </a:rPr>
              <a:t>T.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Varshitha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(22D41A67B2)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Times New Roman"/>
                <a:cs typeface="Times New Roman"/>
              </a:rPr>
              <a:t>P.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Hari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Krishna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(22D41A6789)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ts val="1664"/>
              </a:lnSpc>
            </a:pPr>
            <a:r>
              <a:rPr sz="1400" dirty="0">
                <a:latin typeface="Times New Roman"/>
                <a:cs typeface="Times New Roman"/>
              </a:rPr>
              <a:t>S.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Shiva Sai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(22D41A67A8)</a:t>
            </a:r>
            <a:endParaRPr sz="1400" dirty="0">
              <a:latin typeface="Times New Roman"/>
              <a:cs typeface="Times New Roman"/>
            </a:endParaRPr>
          </a:p>
          <a:p>
            <a:pPr marR="276225" algn="just">
              <a:lnSpc>
                <a:spcPts val="1664"/>
              </a:lnSpc>
              <a:spcBef>
                <a:spcPts val="45"/>
              </a:spcBef>
            </a:pPr>
            <a:r>
              <a:rPr sz="1400" dirty="0">
                <a:latin typeface="Times New Roman"/>
                <a:cs typeface="Times New Roman"/>
              </a:rPr>
              <a:t>Y.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Prasuna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(22D1A67C5)</a:t>
            </a:r>
            <a:endParaRPr sz="1400" dirty="0">
              <a:latin typeface="Times New Roman"/>
              <a:cs typeface="Times New Roman"/>
            </a:endParaRPr>
          </a:p>
          <a:p>
            <a:pPr marR="303530" algn="just">
              <a:lnSpc>
                <a:spcPts val="1664"/>
              </a:lnSpc>
            </a:pPr>
            <a:r>
              <a:rPr sz="1400" dirty="0">
                <a:latin typeface="Times New Roman"/>
                <a:cs typeface="Times New Roman"/>
              </a:rPr>
              <a:t>T.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Koushik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(23D45A6711)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5028" y="4849812"/>
            <a:ext cx="2434972" cy="6576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Times New Roman"/>
                <a:cs typeface="Times New Roman"/>
              </a:rPr>
              <a:t>INTERNAL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GUIDE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ts val="1655"/>
              </a:lnSpc>
            </a:pPr>
            <a:r>
              <a:rPr sz="1400" dirty="0">
                <a:latin typeface="Times New Roman"/>
                <a:cs typeface="Times New Roman"/>
              </a:rPr>
              <a:t>Ms.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lang="en-IN" sz="1400" dirty="0">
                <a:latin typeface="Times New Roman"/>
                <a:cs typeface="Times New Roman"/>
              </a:rPr>
              <a:t>.</a:t>
            </a:r>
            <a:r>
              <a:rPr sz="1400" dirty="0">
                <a:latin typeface="Times New Roman"/>
                <a:cs typeface="Times New Roman"/>
              </a:rPr>
              <a:t>K</a:t>
            </a:r>
            <a:r>
              <a:rPr lang="en-IN" sz="1400" dirty="0">
                <a:latin typeface="Times New Roman"/>
                <a:cs typeface="Times New Roman"/>
              </a:rPr>
              <a:t>.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PRIYANKA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Times New Roman"/>
                <a:cs typeface="Times New Roman"/>
              </a:rPr>
              <a:t>(Assistant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Professor)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A172732-F7C2-05F5-2F8B-AFE2AD6E229A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97B86-B8AE-BA66-2BFD-2DD517CEFC56}"/>
              </a:ext>
            </a:extLst>
          </p:cNvPr>
          <p:cNvSpPr txBox="1"/>
          <p:nvPr/>
        </p:nvSpPr>
        <p:spPr>
          <a:xfrm>
            <a:off x="8610600" y="39624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BATCH</a:t>
            </a:r>
            <a:r>
              <a:rPr lang="en-IN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NO:-</a:t>
            </a:r>
            <a:r>
              <a:rPr lang="en-IN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921111"/>
            <a:ext cx="10058400" cy="81624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</a:pPr>
            <a:r>
              <a:rPr u="none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92959" y="2133600"/>
            <a:ext cx="8006082" cy="3163045"/>
          </a:xfrm>
          <a:prstGeom prst="rect">
            <a:avLst/>
          </a:prstGeom>
        </p:spPr>
        <p:txBody>
          <a:bodyPr vert="horz" wrap="square" lIns="0" tIns="84455" rIns="0" bIns="0" numCol="2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6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2000" spc="-10" dirty="0">
                <a:latin typeface="Times New Roman"/>
                <a:cs typeface="Times New Roman"/>
              </a:rPr>
              <a:t>Abstract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7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69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2000" spc="-10" dirty="0">
                <a:latin typeface="Times New Roman"/>
                <a:cs typeface="Times New Roman"/>
              </a:rPr>
              <a:t>Disadvantages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endParaRPr sz="20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lr>
                <a:srgbClr val="C0504D"/>
              </a:buClr>
              <a:buFont typeface="Wingdings"/>
              <a:buChar char=""/>
              <a:tabLst>
                <a:tab pos="29781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69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Advantages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r>
              <a:rPr lang="en-IN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Software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Requirements</a:t>
            </a:r>
            <a:endParaRPr lang="en-US"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Hardware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Requirements</a:t>
            </a:r>
            <a:endParaRPr lang="en-US"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7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System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Architecture</a:t>
            </a:r>
            <a:endParaRPr lang="en-US" sz="20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800"/>
              </a:spcBef>
              <a:buClr>
                <a:srgbClr val="C0504D"/>
              </a:buClr>
              <a:buFont typeface="Wingdings"/>
              <a:buChar char=""/>
              <a:tabLst>
                <a:tab pos="2978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UML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diagrams</a:t>
            </a:r>
            <a:endParaRPr lang="en-US"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69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Code</a:t>
            </a:r>
            <a:endParaRPr lang="en-US"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7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Output</a:t>
            </a:r>
            <a:endParaRPr lang="en-US"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Conclusion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58897C8-B8EA-E0CC-6C95-9132183F6324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518967-A786-1F47-5920-031D9492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4902" y="997265"/>
            <a:ext cx="10350778" cy="755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0" algn="just">
              <a:lnSpc>
                <a:spcPct val="100000"/>
              </a:lnSpc>
              <a:spcBef>
                <a:spcPts val="130"/>
              </a:spcBef>
            </a:pPr>
            <a:r>
              <a:rPr u="none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2133600"/>
            <a:ext cx="10790555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0" indent="91503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Widespread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adoption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artificial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intelligence(AI)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witnessed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specular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advances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improvements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optimization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especially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machine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(ML).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good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accuracy;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however,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opacity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does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 sufficient assurance 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adoption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automation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lending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paper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 </a:t>
            </a:r>
            <a:r>
              <a:rPr sz="1800" dirty="0">
                <a:latin typeface="Times New Roman"/>
                <a:cs typeface="Times New Roman"/>
              </a:rPr>
              <a:t>explainable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decision-support-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underwriting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belief-</a:t>
            </a:r>
            <a:r>
              <a:rPr sz="1800" spc="-10" dirty="0">
                <a:latin typeface="Times New Roman"/>
                <a:cs typeface="Times New Roman"/>
              </a:rPr>
              <a:t>rule-</a:t>
            </a:r>
            <a:r>
              <a:rPr sz="1800" dirty="0">
                <a:latin typeface="Times New Roman"/>
                <a:cs typeface="Times New Roman"/>
              </a:rPr>
              <a:t>base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(BRB)</a:t>
            </a:r>
            <a:r>
              <a:rPr lang="en-IN" sz="1800" spc="-10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accommodate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human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supervised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 err="1">
                <a:latin typeface="Times New Roman"/>
                <a:cs typeface="Times New Roman"/>
              </a:rPr>
              <a:t>learning.</a:t>
            </a:r>
            <a:r>
              <a:rPr sz="1800" dirty="0" err="1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hierarchical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structure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BRB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accommodates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factual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heuristic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chain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importance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activated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contribution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antecedent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mortgage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underwriting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demonstrated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 provide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good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trade-off between accuracy and explainability. 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textual </a:t>
            </a:r>
            <a:r>
              <a:rPr sz="1800" dirty="0">
                <a:latin typeface="Times New Roman"/>
                <a:cs typeface="Times New Roman"/>
              </a:rPr>
              <a:t>explanation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denial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loan.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decision- 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comprehended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significance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contribution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antecedent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attributes.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0A8EF71-E7A8-57FC-CA24-8E6711035525}"/>
              </a:ext>
            </a:extLst>
          </p:cNvPr>
          <p:cNvSpPr/>
          <p:nvPr/>
        </p:nvSpPr>
        <p:spPr>
          <a:xfrm>
            <a:off x="695121" y="1741570"/>
            <a:ext cx="10460559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3D1E4-471A-616D-F2A6-2D2211F3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929191"/>
            <a:ext cx="10058400" cy="808169"/>
          </a:xfrm>
          <a:prstGeom prst="rect">
            <a:avLst/>
          </a:prstGeom>
        </p:spPr>
        <p:txBody>
          <a:bodyPr vert="horz" wrap="square" lIns="0" tIns="68833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5"/>
              </a:spcBef>
            </a:pPr>
            <a:r>
              <a:rPr u="none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</a:t>
            </a:r>
            <a:r>
              <a:rPr u="none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2057400"/>
            <a:ext cx="10410507" cy="3613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 algn="just">
              <a:lnSpc>
                <a:spcPct val="100200"/>
              </a:lnSpc>
              <a:spcBef>
                <a:spcPts val="95"/>
              </a:spcBef>
            </a:pPr>
            <a:r>
              <a:rPr sz="1800" dirty="0">
                <a:latin typeface="Times New Roman"/>
                <a:cs typeface="Times New Roman"/>
              </a:rPr>
              <a:t>Underwriting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several months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exchange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senior </a:t>
            </a:r>
            <a:r>
              <a:rPr sz="1800" dirty="0">
                <a:latin typeface="Times New Roman"/>
                <a:cs typeface="Times New Roman"/>
              </a:rPr>
              <a:t>underwriters.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underwriters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fairly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analytical,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organized,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accurate 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informed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approve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reject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loan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Underwriters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concurrently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large quantity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find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affordability,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repayment history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collateral.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Furthermore,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sometimes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 required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 the process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due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shift 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regulatory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compliance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requirements,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demands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(Krovvidy,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2008).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New </a:t>
            </a:r>
            <a:r>
              <a:rPr sz="1800" dirty="0">
                <a:latin typeface="Times New Roman"/>
                <a:cs typeface="Times New Roman"/>
              </a:rPr>
              <a:t>technology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strong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(ML)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opened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doors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straight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-10" dirty="0">
                <a:latin typeface="Times New Roman"/>
                <a:cs typeface="Times New Roman"/>
              </a:rPr>
              <a:t> application </a:t>
            </a:r>
            <a:r>
              <a:rPr sz="1800" dirty="0">
                <a:latin typeface="Times New Roman"/>
                <a:cs typeface="Times New Roman"/>
              </a:rPr>
              <a:t>process.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Artificial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intelligence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(AI)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customers‟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25" dirty="0">
                <a:latin typeface="Times New Roman"/>
                <a:cs typeface="Times New Roman"/>
              </a:rPr>
              <a:t>few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milliseconds.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Financial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institutions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recognized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benefits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 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 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 subset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underwriting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keen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newly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introduced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innovation.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expected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replicate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human </a:t>
            </a:r>
            <a:r>
              <a:rPr sz="1800" spc="-10" dirty="0">
                <a:latin typeface="Times New Roman"/>
                <a:cs typeface="Times New Roman"/>
              </a:rPr>
              <a:t>decision-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skills. However, even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today transformation 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various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algorithmic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concepts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 could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challenging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solve every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 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problem 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 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lending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may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able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tiny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subset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problem(Aggour,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Bonissone,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Cheetham,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Messmer,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2006)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04368B5-8032-7D0F-CACF-04B8FFD15601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E0B5D-8F82-978D-6D37-9F786CBC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1618" y="1007999"/>
            <a:ext cx="68503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40200" algn="l"/>
              </a:tabLst>
            </a:pPr>
            <a:r>
              <a:rPr sz="4800" spc="160" dirty="0">
                <a:latin typeface="Times New Roman"/>
                <a:cs typeface="Times New Roman"/>
              </a:rPr>
              <a:t>EX</a:t>
            </a:r>
            <a:r>
              <a:rPr sz="4800" spc="-370" dirty="0">
                <a:latin typeface="Times New Roman"/>
                <a:cs typeface="Times New Roman"/>
              </a:rPr>
              <a:t> </a:t>
            </a:r>
            <a:r>
              <a:rPr sz="4800" spc="265" dirty="0">
                <a:latin typeface="Times New Roman"/>
                <a:cs typeface="Times New Roman"/>
              </a:rPr>
              <a:t>ISTING</a:t>
            </a:r>
            <a:r>
              <a:rPr sz="4800" spc="305" dirty="0">
                <a:latin typeface="Times New Roman"/>
                <a:cs typeface="Times New Roman"/>
              </a:rPr>
              <a:t> </a:t>
            </a:r>
            <a:r>
              <a:rPr sz="4800" spc="130" dirty="0">
                <a:latin typeface="Times New Roman"/>
                <a:cs typeface="Times New Roman"/>
              </a:rPr>
              <a:t>SYSTEM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2623502"/>
            <a:ext cx="10972799" cy="22452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8450" marR="51435" indent="-286385" algn="just">
              <a:lnSpc>
                <a:spcPct val="100800"/>
              </a:lnSpc>
              <a:spcBef>
                <a:spcPts val="8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approvals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handled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manually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officers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traditional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fixed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basic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 models.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marR="5080" indent="-286385" algn="just">
              <a:lnSpc>
                <a:spcPct val="100899"/>
              </a:lnSpc>
              <a:buFont typeface="Wingdings"/>
              <a:buChar char=""/>
              <a:tabLst>
                <a:tab pos="298450" algn="l"/>
                <a:tab pos="355600" algn="l"/>
              </a:tabLst>
            </a:pPr>
            <a:r>
              <a:rPr sz="1800" dirty="0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parameters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credit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income,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employment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status,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previous </a:t>
            </a: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history,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outstanding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debts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decide whether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applicant is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eligible 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loan.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45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marR="156845" indent="-286385" algn="just">
              <a:lnSpc>
                <a:spcPct val="99100"/>
              </a:lnSpc>
              <a:buFont typeface="Wingdings"/>
              <a:buChar char=""/>
              <a:tabLst>
                <a:tab pos="298450" algn="l"/>
                <a:tab pos="355600" algn="l"/>
              </a:tabLst>
            </a:pPr>
            <a:r>
              <a:rPr sz="1800" dirty="0">
                <a:solidFill>
                  <a:srgbClr val="C0504D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 speeds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 </a:t>
            </a:r>
            <a:r>
              <a:rPr sz="1800" spc="-10" dirty="0">
                <a:latin typeface="Times New Roman"/>
                <a:cs typeface="Times New Roman"/>
              </a:rPr>
              <a:t>decision-</a:t>
            </a:r>
            <a:r>
              <a:rPr sz="1800" dirty="0">
                <a:latin typeface="Times New Roman"/>
                <a:cs typeface="Times New Roman"/>
              </a:rPr>
              <a:t>making compared to fully manual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processes, </a:t>
            </a: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“black box,”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decision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explaining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behind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it.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59C50673-D62B-2843-131B-E3737C8EFED7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F9948-3C5B-1BB7-AE21-E95E7A4E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795008"/>
            <a:ext cx="11551920" cy="85664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u="none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u="none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u="none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  <a:r>
              <a:rPr lang="en-IN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u="none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8142" y="2209800"/>
            <a:ext cx="4648200" cy="3716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B71E42"/>
              </a:buClr>
              <a:buSzPct val="69444"/>
              <a:buFont typeface="Wingdings"/>
              <a:buChar char="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Lack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Transparency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B71E42"/>
              </a:buClr>
              <a:buSzPct val="69444"/>
              <a:buFont typeface="Wingdings"/>
              <a:buChar char="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Bias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Decision-Making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B71E42"/>
              </a:buClr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B71E42"/>
              </a:buClr>
            </a:pPr>
            <a:endParaRPr sz="1800" dirty="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B71E42"/>
              </a:buClr>
              <a:buSzPct val="69444"/>
              <a:buFont typeface="Wingdings"/>
              <a:buChar char="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Trust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B71E42"/>
              </a:buClr>
              <a:buSzPct val="69444"/>
              <a:buFont typeface="Wingdings"/>
              <a:buChar char="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Difficult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Regulatory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Compliance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B71E4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B71E42"/>
              </a:buClr>
              <a:buSzPct val="69444"/>
              <a:buFont typeface="Wingdings"/>
              <a:buChar char=""/>
              <a:tabLst>
                <a:tab pos="286385" algn="l"/>
              </a:tabLst>
            </a:pPr>
            <a:r>
              <a:rPr sz="1800" dirty="0">
                <a:latin typeface="Times New Roman"/>
                <a:cs typeface="Times New Roman"/>
              </a:rPr>
              <a:t>Limited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Error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Detection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E589B55-F6E2-77DD-45DD-3258766B59BC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D7EF-C706-D670-CA09-BD27AEB6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43000" y="1019536"/>
            <a:ext cx="66217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235" dirty="0">
                <a:latin typeface="Times New Roman"/>
                <a:cs typeface="Times New Roman"/>
              </a:rPr>
              <a:t>PROPOSED</a:t>
            </a:r>
            <a:r>
              <a:rPr sz="4800" spc="254" dirty="0">
                <a:latin typeface="Times New Roman"/>
                <a:cs typeface="Times New Roman"/>
              </a:rPr>
              <a:t> </a:t>
            </a:r>
            <a:r>
              <a:rPr sz="4800" spc="114" dirty="0">
                <a:latin typeface="Times New Roman"/>
                <a:cs typeface="Times New Roman"/>
              </a:rPr>
              <a:t>SYSTEM</a:t>
            </a:r>
            <a:r>
              <a:rPr sz="4800" spc="365" dirty="0">
                <a:latin typeface="Times New Roman"/>
                <a:cs typeface="Times New Roman"/>
              </a:rPr>
              <a:t> 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5395" y="2442080"/>
            <a:ext cx="10613206" cy="283763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98450" marR="713105" indent="-286385" algn="just">
              <a:lnSpc>
                <a:spcPct val="100899"/>
              </a:lnSpc>
              <a:spcBef>
                <a:spcPts val="80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8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proposed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system uses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Explainable AI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(XAI)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techniques</a:t>
            </a:r>
            <a:r>
              <a:rPr lang="en-US" sz="1800" spc="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along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with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machine </a:t>
            </a:r>
            <a:r>
              <a:rPr lang="en-US" sz="1800" dirty="0">
                <a:latin typeface="Times New Roman"/>
                <a:cs typeface="Times New Roman"/>
              </a:rPr>
              <a:t>learning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models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to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make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loan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approval decisions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both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accurate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transparent.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45"/>
              </a:spcBef>
              <a:buClr>
                <a:srgbClr val="C0504D"/>
              </a:buClr>
            </a:pPr>
            <a:endParaRPr lang="en-US" sz="1800" dirty="0">
              <a:latin typeface="Times New Roman"/>
              <a:cs typeface="Times New Roman"/>
            </a:endParaRPr>
          </a:p>
          <a:p>
            <a:pPr marL="298450" marR="5080" indent="-286385" algn="just">
              <a:lnSpc>
                <a:spcPts val="2100"/>
              </a:lnSpc>
              <a:spcBef>
                <a:spcPts val="5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It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not</a:t>
            </a:r>
            <a:r>
              <a:rPr lang="en-US" sz="1800" spc="-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only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predicts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whether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loan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should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approved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or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rejected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but also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explains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why </a:t>
            </a:r>
            <a:r>
              <a:rPr lang="en-US" sz="1800" dirty="0">
                <a:latin typeface="Times New Roman"/>
                <a:cs typeface="Times New Roman"/>
              </a:rPr>
              <a:t>that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decision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was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made.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C0504D"/>
              </a:buClr>
              <a:buFont typeface="Wingdings"/>
              <a:buChar char=""/>
            </a:pPr>
            <a:endParaRPr lang="en-US" sz="1800" dirty="0">
              <a:latin typeface="Times New Roman"/>
              <a:cs typeface="Times New Roman"/>
            </a:endParaRPr>
          </a:p>
          <a:p>
            <a:pPr marL="298450" marR="85090" indent="-286385" algn="just">
              <a:lnSpc>
                <a:spcPct val="1008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Methods</a:t>
            </a:r>
            <a:r>
              <a:rPr lang="en-US" sz="1800" spc="-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such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as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SHAP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</a:t>
            </a:r>
            <a:r>
              <a:rPr lang="en-US" sz="1800" dirty="0" err="1">
                <a:latin typeface="Times New Roman"/>
                <a:cs typeface="Times New Roman"/>
              </a:rPr>
              <a:t>SHapley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Additive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explanations)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or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LIME (Local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Interpretable Model-</a:t>
            </a:r>
            <a:r>
              <a:rPr lang="en-US" sz="1800" dirty="0">
                <a:latin typeface="Times New Roman"/>
                <a:cs typeface="Times New Roman"/>
              </a:rPr>
              <a:t>Agnostic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Explanations)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highlight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most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important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features—like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income </a:t>
            </a:r>
            <a:r>
              <a:rPr lang="en-US" sz="1800" dirty="0">
                <a:latin typeface="Times New Roman"/>
                <a:cs typeface="Times New Roman"/>
              </a:rPr>
              <a:t>level,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credit</a:t>
            </a:r>
            <a:r>
              <a:rPr lang="en-US" sz="1800" spc="-6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score,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repayment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behavior—that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influenced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decision.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C0504D"/>
              </a:buClr>
              <a:buFont typeface="Wingdings"/>
              <a:buChar char=""/>
            </a:pPr>
            <a:endParaRPr lang="en-US"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This approach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improves</a:t>
            </a:r>
            <a:r>
              <a:rPr lang="en-US" sz="1800" spc="-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fairness,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accountability,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user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trust.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B64A1F9-3E16-CEC5-DC0E-59AFAA10CCF1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D7EF4-CEEC-F094-81F0-A9697D99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955410"/>
            <a:ext cx="1234313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0395" algn="l"/>
                <a:tab pos="3892550" algn="l"/>
                <a:tab pos="6374765" algn="l"/>
                <a:tab pos="8286750" algn="l"/>
              </a:tabLst>
            </a:pPr>
            <a:r>
              <a:rPr u="none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</a:t>
            </a:r>
            <a:r>
              <a:rPr lang="en-IN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u="none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  <a:r>
              <a:rPr lang="en-IN" u="none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92" y="2312606"/>
            <a:ext cx="7921308" cy="3123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100"/>
              </a:spcBef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Improved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Transparency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3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Fair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Bias-</a:t>
            </a:r>
            <a:r>
              <a:rPr sz="1800" dirty="0">
                <a:latin typeface="Times New Roman"/>
                <a:cs typeface="Times New Roman"/>
              </a:rPr>
              <a:t>Aware</a:t>
            </a:r>
            <a:r>
              <a:rPr sz="1800" spc="-10" dirty="0">
                <a:latin typeface="Times New Roman"/>
                <a:cs typeface="Times New Roman"/>
              </a:rPr>
              <a:t> Decisions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Higher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Trust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25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Regulatory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Compliance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25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Improved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Quality</a:t>
            </a:r>
            <a:endParaRPr sz="18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Feedback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Applicants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DEE3C0F-A802-F9F7-808B-F7E431CC14C7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7FC37-CFCF-8030-66E0-1FBBD910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940412"/>
            <a:ext cx="10058400" cy="796948"/>
          </a:xfrm>
          <a:prstGeom prst="rect">
            <a:avLst/>
          </a:prstGeom>
        </p:spPr>
        <p:txBody>
          <a:bodyPr vert="horz" wrap="square" lIns="0" tIns="57721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u="non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u="none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292" y="2541587"/>
            <a:ext cx="5559108" cy="2003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C0504D"/>
              </a:buClr>
              <a:buFont typeface="Wingdings"/>
              <a:buChar char=""/>
              <a:tabLst>
                <a:tab pos="297815" algn="l"/>
              </a:tabLst>
            </a:pP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MINIMUM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i3.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504D"/>
              </a:buClr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Hard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Disk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GB.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RAM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GB.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243C17E-CA5C-2619-27C1-2CC89DD08937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ED51-7C3F-DC79-00F2-0FF39F55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737360"/>
            <a:ext cx="9936480" cy="167640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940412"/>
            <a:ext cx="10058400" cy="796948"/>
          </a:xfrm>
          <a:prstGeom prst="rect">
            <a:avLst/>
          </a:prstGeom>
        </p:spPr>
        <p:txBody>
          <a:bodyPr vert="horz" wrap="square" lIns="0" tIns="57721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292" y="2892742"/>
            <a:ext cx="3310254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0504D"/>
              </a:buClr>
              <a:buFont typeface="Wingdings"/>
              <a:buChar char="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Operating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C0504D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4965" algn="l"/>
              </a:tabLst>
            </a:pPr>
            <a:r>
              <a:rPr sz="1800" b="1" dirty="0">
                <a:latin typeface="Times New Roman"/>
                <a:cs typeface="Times New Roman"/>
              </a:rPr>
              <a:t>Coding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Language: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3.7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9DF30-9E0F-6F23-06C5-F407B1DE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9" y="285460"/>
            <a:ext cx="76885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u="none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219200"/>
            <a:ext cx="10668000" cy="472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2475E-FCB7-786D-7021-9EC6B1F8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737359"/>
            <a:ext cx="9936480" cy="4571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922137"/>
            <a:ext cx="10058400" cy="815223"/>
          </a:xfrm>
          <a:prstGeom prst="rect">
            <a:avLst/>
          </a:prstGeom>
        </p:spPr>
        <p:txBody>
          <a:bodyPr vert="horz" wrap="square" lIns="0" tIns="7581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u="none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  <a:r>
              <a:rPr u="none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1981200"/>
            <a:ext cx="9982200" cy="38074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30"/>
              </a:spcBef>
              <a:buClr>
                <a:srgbClr val="C0504D"/>
              </a:buClr>
              <a:buFont typeface="Wingdings"/>
              <a:buChar char=""/>
              <a:tabLst>
                <a:tab pos="355600" algn="l"/>
                <a:tab pos="1021715" algn="l"/>
                <a:tab pos="1311275" algn="l"/>
                <a:tab pos="1546860" algn="l"/>
                <a:tab pos="2492375" algn="l"/>
                <a:tab pos="3196590" algn="l"/>
                <a:tab pos="4194810" algn="l"/>
                <a:tab pos="4765675" algn="l"/>
                <a:tab pos="5081905" algn="l"/>
                <a:tab pos="5840095" algn="l"/>
                <a:tab pos="6316980" algn="l"/>
                <a:tab pos="7048500" algn="l"/>
                <a:tab pos="8636000" algn="l"/>
              </a:tabLst>
            </a:pPr>
            <a:r>
              <a:rPr sz="1850" spc="-25" dirty="0">
                <a:latin typeface="Times New Roman"/>
                <a:cs typeface="Times New Roman"/>
              </a:rPr>
              <a:t>UML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standard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visual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language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design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and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model</a:t>
            </a:r>
            <a:r>
              <a:rPr sz="1850" dirty="0">
                <a:latin typeface="Times New Roman"/>
                <a:cs typeface="Times New Roman"/>
              </a:rPr>
              <a:t>	object-</a:t>
            </a:r>
            <a:r>
              <a:rPr sz="1850" spc="-10" dirty="0">
                <a:latin typeface="Times New Roman"/>
                <a:cs typeface="Times New Roman"/>
              </a:rPr>
              <a:t>oriented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software</a:t>
            </a:r>
            <a:endParaRPr sz="185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110"/>
              </a:spcBef>
            </a:pPr>
            <a:r>
              <a:rPr sz="1850" spc="-10" dirty="0">
                <a:latin typeface="Times New Roman"/>
                <a:cs typeface="Times New Roman"/>
              </a:rPr>
              <a:t>systems.</a:t>
            </a:r>
            <a:endParaRPr sz="185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8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helps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developers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visualize,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plan,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document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structure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behavior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using</a:t>
            </a:r>
            <a:endParaRPr sz="185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35"/>
              </a:spcBef>
            </a:pPr>
            <a:r>
              <a:rPr sz="1850" spc="-10" dirty="0">
                <a:latin typeface="Times New Roman"/>
                <a:cs typeface="Times New Roman"/>
              </a:rPr>
              <a:t>diagrams.</a:t>
            </a:r>
            <a:endParaRPr sz="185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6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UML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independent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programming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languages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development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processes.</a:t>
            </a:r>
            <a:endParaRPr sz="185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80"/>
              </a:spcBef>
              <a:buClr>
                <a:srgbClr val="C0504D"/>
              </a:buClr>
              <a:buFont typeface="Wingdings"/>
              <a:buChar char=""/>
            </a:pPr>
            <a:endParaRPr sz="185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provides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common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way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teams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understand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communicate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designs.</a:t>
            </a:r>
            <a:endParaRPr sz="185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85"/>
              </a:spcBef>
              <a:buClr>
                <a:srgbClr val="C0504D"/>
              </a:buClr>
              <a:buFont typeface="Wingdings"/>
              <a:buChar char=""/>
            </a:pPr>
            <a:endParaRPr sz="185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UML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supports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best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software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engineering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practices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building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large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complex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systems.</a:t>
            </a:r>
            <a:endParaRPr sz="185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85"/>
              </a:spcBef>
              <a:buClr>
                <a:srgbClr val="C0504D"/>
              </a:buClr>
              <a:buFont typeface="Wingdings"/>
              <a:buChar char=""/>
            </a:pPr>
            <a:endParaRPr sz="185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Clr>
                <a:srgbClr val="C0504D"/>
              </a:buClr>
              <a:buFont typeface="Wingdings"/>
              <a:buChar char="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widely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software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development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clear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effective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modeling.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8FA88-43AB-A9AA-56E3-07A1BBC2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918" y="230215"/>
            <a:ext cx="6482082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u="none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u="none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038225"/>
            <a:ext cx="10296525" cy="4886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30509-0E71-CDD1-807A-36E91F67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919" y="230215"/>
            <a:ext cx="50342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u="none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143000"/>
            <a:ext cx="10144125" cy="47339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3520D-2E5E-FC48-19BE-6765B63B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919" y="230215"/>
            <a:ext cx="65582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u="none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43000"/>
            <a:ext cx="10334625" cy="4572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8EE61-29A7-5CE4-41C6-3BE01987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2057400"/>
            <a:ext cx="10329545" cy="3794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latin typeface="Times New Roman"/>
                <a:cs typeface="Times New Roman"/>
              </a:rPr>
              <a:t>def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processDataset():</a:t>
            </a:r>
            <a:endParaRPr sz="1850" dirty="0">
              <a:latin typeface="Times New Roman"/>
              <a:cs typeface="Times New Roman"/>
            </a:endParaRPr>
          </a:p>
          <a:p>
            <a:pPr marL="254000" marR="3458845">
              <a:lnSpc>
                <a:spcPct val="101499"/>
              </a:lnSpc>
              <a:spcBef>
                <a:spcPts val="75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Convert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non-numeric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(object)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numeric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using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LabelEncoder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i,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col_type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enumerate(dataset.dtypes):</a:t>
            </a:r>
            <a:endParaRPr sz="1850" dirty="0">
              <a:latin typeface="Times New Roman"/>
              <a:cs typeface="Times New Roman"/>
            </a:endParaRPr>
          </a:p>
          <a:p>
            <a:pPr marL="737235" marR="7628890" indent="-241935">
              <a:lnSpc>
                <a:spcPct val="101600"/>
              </a:lnSpc>
              <a:spcBef>
                <a:spcPts val="70"/>
              </a:spcBef>
            </a:pPr>
            <a:r>
              <a:rPr sz="1850" dirty="0">
                <a:latin typeface="Times New Roman"/>
                <a:cs typeface="Times New Roman"/>
              </a:rPr>
              <a:t>if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col_type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==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'object': </a:t>
            </a:r>
            <a:r>
              <a:rPr sz="1850" dirty="0">
                <a:latin typeface="Times New Roman"/>
                <a:cs typeface="Times New Roman"/>
              </a:rPr>
              <a:t>le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LabelEncoder()</a:t>
            </a:r>
            <a:endParaRPr sz="1850" dirty="0">
              <a:latin typeface="Times New Roman"/>
              <a:cs typeface="Times New Roman"/>
            </a:endParaRPr>
          </a:p>
          <a:p>
            <a:pPr marL="737235" marR="1378585">
              <a:lnSpc>
                <a:spcPts val="2330"/>
              </a:lnSpc>
              <a:spcBef>
                <a:spcPts val="20"/>
              </a:spcBef>
            </a:pPr>
            <a:r>
              <a:rPr sz="1850" dirty="0">
                <a:latin typeface="Times New Roman"/>
                <a:cs typeface="Times New Roman"/>
              </a:rPr>
              <a:t>dataset[dataset.columns[i]]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le.fit_transform(dataset[dataset.columns[i]].astype(str))</a:t>
            </a:r>
            <a:r>
              <a:rPr sz="1850" spc="5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label_encoder.append(le)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ts val="2155"/>
              </a:lnSpc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Feature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Scaling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(Normalization)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latin typeface="Times New Roman"/>
                <a:cs typeface="Times New Roman"/>
              </a:rPr>
              <a:t>scaler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StandardScaler()</a:t>
            </a:r>
            <a:endParaRPr sz="1850" dirty="0">
              <a:latin typeface="Times New Roman"/>
              <a:cs typeface="Times New Roman"/>
            </a:endParaRPr>
          </a:p>
          <a:p>
            <a:pPr marL="12700" marR="5080" indent="241300">
              <a:lnSpc>
                <a:spcPts val="2250"/>
              </a:lnSpc>
              <a:spcBef>
                <a:spcPts val="85"/>
              </a:spcBef>
            </a:pPr>
            <a:r>
              <a:rPr sz="1850" dirty="0">
                <a:latin typeface="Times New Roman"/>
                <a:cs typeface="Times New Roman"/>
              </a:rPr>
              <a:t>X</a:t>
            </a:r>
            <a:r>
              <a:rPr sz="1850" spc="4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3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scaler.fit_transform(dataset.drop(['NAME_CONTRACT_STATUS',</a:t>
            </a:r>
            <a:r>
              <a:rPr sz="1850" spc="2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'CODE_REJECT_REASON'], axis=1))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30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80/20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Train-Test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Split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35"/>
              </a:spcBef>
            </a:pPr>
            <a:r>
              <a:rPr sz="1850" dirty="0">
                <a:latin typeface="Times New Roman"/>
                <a:cs typeface="Times New Roman"/>
              </a:rPr>
              <a:t>loan_X_train,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loan_X_test,</a:t>
            </a:r>
            <a:r>
              <a:rPr sz="1850" spc="1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loan_y_train,</a:t>
            </a:r>
            <a:r>
              <a:rPr sz="1850" spc="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loan_y_test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train_test_split(X,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loan_status,</a:t>
            </a:r>
            <a:r>
              <a:rPr sz="1850" spc="1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test_size=0.2)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845129"/>
            <a:ext cx="10058400" cy="892231"/>
          </a:xfrm>
          <a:prstGeom prst="rect">
            <a:avLst/>
          </a:prstGeom>
        </p:spPr>
        <p:txBody>
          <a:bodyPr vert="horz" wrap="square" lIns="0" tIns="152082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0"/>
              </a:spcBef>
              <a:tabLst>
                <a:tab pos="9646285" algn="l"/>
              </a:tabLst>
            </a:pPr>
            <a:r>
              <a:rPr spc="-204"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dirty="0"/>
              <a:t>	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607559E-5EDC-8F35-05C8-3D4C5D61AE70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395FC-96A0-76BE-4DF2-17F71584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7280" y="868212"/>
            <a:ext cx="10058400" cy="869148"/>
          </a:xfrm>
          <a:prstGeom prst="rect">
            <a:avLst/>
          </a:prstGeom>
        </p:spPr>
        <p:txBody>
          <a:bodyPr vert="horz" wrap="square" lIns="0" tIns="129222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u="none"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990600" y="2057400"/>
            <a:ext cx="5626100" cy="3794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latin typeface="Times New Roman"/>
                <a:cs typeface="Times New Roman"/>
              </a:rPr>
              <a:t>def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trainModels():</a:t>
            </a:r>
            <a:endParaRPr sz="1850" dirty="0">
              <a:latin typeface="Times New Roman"/>
              <a:cs typeface="Times New Roman"/>
            </a:endParaRPr>
          </a:p>
          <a:p>
            <a:pPr marL="254000" marR="1084580">
              <a:lnSpc>
                <a:spcPct val="103200"/>
              </a:lnSpc>
              <a:spcBef>
                <a:spcPts val="35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Model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1: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Predicting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Loan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Approval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Status </a:t>
            </a:r>
            <a:r>
              <a:rPr sz="1850" dirty="0">
                <a:latin typeface="Times New Roman"/>
                <a:cs typeface="Times New Roman"/>
              </a:rPr>
              <a:t>rf =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RandomForestClassifier() </a:t>
            </a:r>
            <a:r>
              <a:rPr sz="1850" dirty="0">
                <a:latin typeface="Times New Roman"/>
                <a:cs typeface="Times New Roman"/>
              </a:rPr>
              <a:t>rf.fit(loan_X_train,</a:t>
            </a:r>
            <a:r>
              <a:rPr sz="1850" spc="3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loan_y_train)</a:t>
            </a:r>
            <a:endParaRPr sz="1850" dirty="0">
              <a:latin typeface="Times New Roman"/>
              <a:cs typeface="Times New Roman"/>
            </a:endParaRPr>
          </a:p>
          <a:p>
            <a:pPr marL="254000" marR="571500">
              <a:lnSpc>
                <a:spcPct val="101400"/>
              </a:lnSpc>
              <a:spcBef>
                <a:spcPts val="5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Model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2: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Predicting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Specific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Rejection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Reasons </a:t>
            </a:r>
            <a:r>
              <a:rPr sz="1850" dirty="0">
                <a:latin typeface="Times New Roman"/>
                <a:cs typeface="Times New Roman"/>
              </a:rPr>
              <a:t>reject_rf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RandomForestClassifier()</a:t>
            </a:r>
            <a:endParaRPr sz="1850" dirty="0">
              <a:latin typeface="Times New Roman"/>
              <a:cs typeface="Times New Roman"/>
            </a:endParaRPr>
          </a:p>
          <a:p>
            <a:pPr marL="254000" marR="1261110">
              <a:lnSpc>
                <a:spcPct val="101400"/>
              </a:lnSpc>
              <a:spcBef>
                <a:spcPts val="80"/>
              </a:spcBef>
            </a:pPr>
            <a:r>
              <a:rPr sz="1850" dirty="0">
                <a:latin typeface="Times New Roman"/>
                <a:cs typeface="Times New Roman"/>
              </a:rPr>
              <a:t>reject_rf.fit(reject_X_train,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reject_y_train) </a:t>
            </a: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Evaluation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(Example: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Accuracy)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latin typeface="Times New Roman"/>
                <a:cs typeface="Times New Roman"/>
              </a:rPr>
              <a:t>predict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rf.predict(loan_X_test)</a:t>
            </a:r>
            <a:endParaRPr sz="1850" dirty="0">
              <a:latin typeface="Times New Roman"/>
              <a:cs typeface="Times New Roman"/>
            </a:endParaRPr>
          </a:p>
          <a:p>
            <a:pPr marL="254000" marR="106045">
              <a:lnSpc>
                <a:spcPts val="2250"/>
              </a:lnSpc>
              <a:spcBef>
                <a:spcPts val="80"/>
              </a:spcBef>
            </a:pPr>
            <a:r>
              <a:rPr sz="1850" dirty="0">
                <a:latin typeface="Times New Roman"/>
                <a:cs typeface="Times New Roman"/>
              </a:rPr>
              <a:t>accuracy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accuracy_score(loan_y_test,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predict)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100 </a:t>
            </a: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Visualization: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Heatmap/Confusion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Matrix</a:t>
            </a:r>
            <a:endParaRPr sz="1850" dirty="0">
              <a:latin typeface="Times New Roman"/>
              <a:cs typeface="Times New Roman"/>
            </a:endParaRPr>
          </a:p>
          <a:p>
            <a:pPr marL="254000" marR="5080">
              <a:lnSpc>
                <a:spcPts val="2260"/>
              </a:lnSpc>
              <a:spcBef>
                <a:spcPts val="75"/>
              </a:spcBef>
            </a:pPr>
            <a:r>
              <a:rPr sz="1850" dirty="0">
                <a:latin typeface="Times New Roman"/>
                <a:cs typeface="Times New Roman"/>
              </a:rPr>
              <a:t>conf_matrix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confusion_matrix(loan_y_test,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predict) </a:t>
            </a:r>
            <a:r>
              <a:rPr sz="1850" dirty="0">
                <a:latin typeface="Times New Roman"/>
                <a:cs typeface="Times New Roman"/>
              </a:rPr>
              <a:t>sns.heatmap(conf_matrix,</a:t>
            </a:r>
            <a:r>
              <a:rPr sz="1850" spc="2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annot=True,</a:t>
            </a:r>
            <a:r>
              <a:rPr sz="1850" spc="2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cmap="viridis")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4E877-B2BF-B3A3-C06A-4C5783F5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845129"/>
            <a:ext cx="10058400" cy="892231"/>
          </a:xfrm>
          <a:prstGeom prst="rect">
            <a:avLst/>
          </a:prstGeom>
        </p:spPr>
        <p:txBody>
          <a:bodyPr vert="horz" wrap="square" lIns="0" tIns="152082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0"/>
              </a:spcBef>
              <a:tabLst>
                <a:tab pos="9646285" algn="l"/>
              </a:tabLst>
            </a:pPr>
            <a:r>
              <a:rPr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7974" y="2057400"/>
            <a:ext cx="6672580" cy="4088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Times New Roman"/>
                <a:cs typeface="Times New Roman"/>
              </a:rPr>
              <a:t>def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explainAI():</a:t>
            </a:r>
            <a:endParaRPr sz="1850" dirty="0">
              <a:latin typeface="Times New Roman"/>
              <a:cs typeface="Times New Roman"/>
            </a:endParaRPr>
          </a:p>
          <a:p>
            <a:pPr marL="254000" marR="5080">
              <a:lnSpc>
                <a:spcPct val="101600"/>
              </a:lnSpc>
              <a:spcBef>
                <a:spcPts val="75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Using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SHAP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(SHapley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Additive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exPlanations)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Transparency </a:t>
            </a:r>
            <a:r>
              <a:rPr sz="1850" dirty="0">
                <a:latin typeface="Times New Roman"/>
                <a:cs typeface="Times New Roman"/>
              </a:rPr>
              <a:t>explainer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shap.TreeExplainer(rf)</a:t>
            </a:r>
            <a:endParaRPr sz="1850" dirty="0">
              <a:latin typeface="Times New Roman"/>
              <a:cs typeface="Times New Roman"/>
            </a:endParaRPr>
          </a:p>
          <a:p>
            <a:pPr marL="254000" marR="803910">
              <a:lnSpc>
                <a:spcPct val="101499"/>
              </a:lnSpc>
              <a:spcBef>
                <a:spcPts val="70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Calculate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SHAP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values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200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test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samples </a:t>
            </a:r>
            <a:r>
              <a:rPr sz="1850" dirty="0">
                <a:latin typeface="Times New Roman"/>
                <a:cs typeface="Times New Roman"/>
              </a:rPr>
              <a:t>shap_values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explainer.shap_values(loan_X_test[0:200])</a:t>
            </a:r>
            <a:r>
              <a:rPr sz="1850" spc="5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Generate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Summary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Plot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show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feature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importance</a:t>
            </a:r>
            <a:endParaRPr sz="1850" dirty="0">
              <a:latin typeface="Times New Roman"/>
              <a:cs typeface="Times New Roman"/>
            </a:endParaRPr>
          </a:p>
          <a:p>
            <a:pPr marL="254000" marR="17145">
              <a:lnSpc>
                <a:spcPct val="101400"/>
              </a:lnSpc>
              <a:spcBef>
                <a:spcPts val="80"/>
              </a:spcBef>
            </a:pPr>
            <a:r>
              <a:rPr sz="1850" dirty="0">
                <a:latin typeface="Times New Roman"/>
                <a:cs typeface="Times New Roman"/>
              </a:rPr>
              <a:t>shap.summary_plot(shap_values,</a:t>
            </a:r>
            <a:r>
              <a:rPr sz="1850" spc="4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feature_names=features_names) plt.show()</a:t>
            </a: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latin typeface="Times New Roman"/>
                <a:cs typeface="Times New Roman"/>
              </a:rPr>
              <a:t>def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predict(test_data):</a:t>
            </a:r>
            <a:endParaRPr sz="1850" dirty="0">
              <a:latin typeface="Times New Roman"/>
              <a:cs typeface="Times New Roman"/>
            </a:endParaRPr>
          </a:p>
          <a:p>
            <a:pPr marL="254000" marR="1897380">
              <a:lnSpc>
                <a:spcPts val="2260"/>
              </a:lnSpc>
              <a:spcBef>
                <a:spcPts val="75"/>
              </a:spcBef>
            </a:pPr>
            <a:r>
              <a:rPr sz="1850" dirty="0">
                <a:latin typeface="Times New Roman"/>
                <a:cs typeface="Times New Roman"/>
              </a:rPr>
              <a:t>#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Apply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saved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scaler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encoders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new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 </a:t>
            </a:r>
            <a:r>
              <a:rPr sz="1850" dirty="0">
                <a:latin typeface="Times New Roman"/>
                <a:cs typeface="Times New Roman"/>
              </a:rPr>
              <a:t>X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scaler.transform(test_data)</a:t>
            </a:r>
            <a:endParaRPr sz="185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20"/>
              </a:spcBef>
            </a:pPr>
            <a:r>
              <a:rPr sz="1850" dirty="0">
                <a:latin typeface="Times New Roman"/>
                <a:cs typeface="Times New Roman"/>
              </a:rPr>
              <a:t>status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rf.predict(X)</a:t>
            </a:r>
            <a:endParaRPr sz="1850" dirty="0">
              <a:latin typeface="Times New Roman"/>
              <a:cs typeface="Times New Roman"/>
            </a:endParaRPr>
          </a:p>
          <a:p>
            <a:pPr marL="254000" marR="3641090">
              <a:lnSpc>
                <a:spcPts val="2330"/>
              </a:lnSpc>
              <a:spcBef>
                <a:spcPts val="20"/>
              </a:spcBef>
            </a:pPr>
            <a:r>
              <a:rPr sz="1850" dirty="0">
                <a:latin typeface="Times New Roman"/>
                <a:cs typeface="Times New Roman"/>
              </a:rPr>
              <a:t>reason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reject_rf.predict(X) </a:t>
            </a:r>
            <a:r>
              <a:rPr sz="1850" dirty="0">
                <a:latin typeface="Times New Roman"/>
                <a:cs typeface="Times New Roman"/>
              </a:rPr>
              <a:t>return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status,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reason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59771FF-70D5-3596-2E96-E9E5602E2080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4BFB5-7F1D-B0CD-C1C0-267C20C4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9" y="953480"/>
            <a:ext cx="64693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3840" algn="l"/>
              </a:tabLst>
            </a:pPr>
            <a:r>
              <a:rPr u="none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-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u="none" spc="-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362200"/>
            <a:ext cx="5734050" cy="3219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350" y="2381250"/>
            <a:ext cx="5734050" cy="321945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8E0A9A2D-A923-5496-4398-5D247B4357F7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A271C-B4A8-68B4-6286-81E1B15E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9" y="953480"/>
            <a:ext cx="62407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3840" algn="l"/>
              </a:tabLst>
            </a:pPr>
            <a:r>
              <a:rPr u="none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-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u="none" spc="-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r>
              <a:rPr lang="en-IN"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438400"/>
            <a:ext cx="5734050" cy="3219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2438400"/>
            <a:ext cx="5734050" cy="321945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55E82DD-3247-1457-9854-FD2C906773EE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4E626-0C9A-464F-02D0-9E5EC2DE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9" y="953480"/>
            <a:ext cx="61645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3840" algn="l"/>
              </a:tabLst>
            </a:pPr>
            <a:r>
              <a:rPr u="none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-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u="none" spc="-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438400"/>
            <a:ext cx="5734050" cy="3219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2438400"/>
            <a:ext cx="5734050" cy="322897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59524C2B-D83A-F80D-7EE3-D800F3CEA5CA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AB8D-FEAE-F275-6331-7763F4BC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9" y="953480"/>
            <a:ext cx="70027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3840" algn="l"/>
              </a:tabLst>
            </a:pPr>
            <a:r>
              <a:rPr u="none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-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u="none" spc="-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438400"/>
            <a:ext cx="5734050" cy="3219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350" y="2438400"/>
            <a:ext cx="5734050" cy="321945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3CA48BC1-F3BB-5326-1ACA-460CCA2DDEB3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FF5C7-F985-0101-A6B8-CE88DAF4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8" y="953480"/>
            <a:ext cx="74599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3840" algn="l"/>
              </a:tabLst>
            </a:pPr>
            <a:r>
              <a:rPr u="none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-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u="none" spc="-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u="none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u="none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none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362200"/>
            <a:ext cx="5734050" cy="3219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2362200"/>
            <a:ext cx="5734050" cy="321945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4A9F90D6-34F1-657B-768C-62F6CC123D3B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16B7E-7DCA-16F1-41D4-C06AA233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1619" y="953480"/>
            <a:ext cx="540258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78810" algn="l"/>
              </a:tabLst>
            </a:pPr>
            <a:r>
              <a:rPr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u="none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u="none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u="none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USION</a:t>
            </a:r>
            <a:endParaRPr u="none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990600" y="2008514"/>
            <a:ext cx="10058400" cy="284097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3200"/>
              </a:lnSpc>
              <a:spcBef>
                <a:spcPts val="5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Belief-Rule-Base</a:t>
            </a:r>
            <a:r>
              <a:rPr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(BRB)</a:t>
            </a:r>
            <a:r>
              <a:rPr b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underwriting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"black-box"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rejection,</a:t>
            </a:r>
            <a:r>
              <a:rPr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communicated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alike.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regulated industries.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C374898-087B-9BF6-CC52-117218242908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BAD39-CED2-4D5E-3136-F10D2D49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31C2-E1D8-1103-934E6B30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9223E-11D7-F58B-DF15-AC7F48143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917289"/>
            <a:ext cx="10363200" cy="4023360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Abdou, H. A. (2009). Genetic programming for credit scoring: The case of Egyptian  public sector banks. Expert systems with applications, 36(9), 11402-11417.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Abellán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Castellano, J. G. (2017). A comparative study on base classifiers in  ensemble methods for credit scoring. ,. Expert Systems with Applications, 73, 1-10.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Adadi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Berrada, M. (2018). Peeking inside the black-box: A survey on  Explainable Artificial Intelligence (XAI). IEEE Access, 6, 52138-52160.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Aggour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S.,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Bonissone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P., Cheetham, W. E., &amp; Messmer, R. P. (2006). Automating the underwriting of insurance applications. AI magazine, 27(3), 36-36.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Aitken, R. (2017).'All data is credit data': Constituting the unbanked. Competition &amp;  Change. 21(4), 274- 300.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Akinyokun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 C. (2015). Fuzzy logic-driven expert system for the diagnosis of heart failure disease.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Research, 12-21.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Ala'raj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Abbod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F. (2016). Classifiers consensus system approach for credit scoring. Knowledge-Based Systems, 104, 89-105.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37DAF60-F529-3106-24D9-EBFA196BA4FC}"/>
              </a:ext>
            </a:extLst>
          </p:cNvPr>
          <p:cNvSpPr/>
          <p:nvPr/>
        </p:nvSpPr>
        <p:spPr>
          <a:xfrm>
            <a:off x="990600" y="1741570"/>
            <a:ext cx="10165080" cy="163429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200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11CD9-0895-B8D8-A89E-07C91028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79629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30070" y="2860611"/>
            <a:ext cx="7900670" cy="1364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65040" algn="l"/>
              </a:tabLst>
            </a:pPr>
            <a:r>
              <a:rPr sz="8750" b="0" u="none" spc="690" dirty="0">
                <a:latin typeface="Times New Roman"/>
                <a:cs typeface="Times New Roman"/>
              </a:rPr>
              <a:t>THAN</a:t>
            </a:r>
            <a:r>
              <a:rPr sz="8750" b="0" u="none" spc="-10" dirty="0">
                <a:latin typeface="Times New Roman"/>
                <a:cs typeface="Times New Roman"/>
              </a:rPr>
              <a:t>K</a:t>
            </a:r>
            <a:r>
              <a:rPr sz="8750" b="0" u="none" dirty="0">
                <a:latin typeface="Times New Roman"/>
                <a:cs typeface="Times New Roman"/>
              </a:rPr>
              <a:t>	</a:t>
            </a:r>
            <a:r>
              <a:rPr sz="8750" b="0" u="none" spc="-560" dirty="0">
                <a:latin typeface="Times New Roman"/>
                <a:cs typeface="Times New Roman"/>
              </a:rPr>
              <a:t>Y</a:t>
            </a:r>
            <a:r>
              <a:rPr sz="8750" b="0" u="none" spc="125" dirty="0">
                <a:latin typeface="Times New Roman"/>
                <a:cs typeface="Times New Roman"/>
              </a:rPr>
              <a:t>OU</a:t>
            </a:r>
            <a:r>
              <a:rPr sz="8750" b="0" u="none" spc="95" dirty="0">
                <a:latin typeface="Times New Roman"/>
                <a:cs typeface="Times New Roman"/>
              </a:rPr>
              <a:t>!</a:t>
            </a:r>
            <a:r>
              <a:rPr sz="8750" b="0" u="none" spc="25" dirty="0">
                <a:latin typeface="Times New Roman"/>
                <a:cs typeface="Times New Roman"/>
              </a:rPr>
              <a:t>!</a:t>
            </a:r>
            <a:endParaRPr sz="8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</TotalTime>
  <Words>1769</Words>
  <Application>Microsoft Office PowerPoint</Application>
  <PresentationFormat>Widescreen</PresentationFormat>
  <Paragraphs>169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Calibri Light</vt:lpstr>
      <vt:lpstr>Times New Roman</vt:lpstr>
      <vt:lpstr>Wingdings</vt:lpstr>
      <vt:lpstr>Retrospect</vt:lpstr>
      <vt:lpstr>DEPARTMENT OF DATA SCIENCE</vt:lpstr>
      <vt:lpstr>CONTENTS</vt:lpstr>
      <vt:lpstr>ABSTRACT</vt:lpstr>
      <vt:lpstr>INTRODUCTION</vt:lpstr>
      <vt:lpstr>PowerPoint Presentation</vt:lpstr>
      <vt:lpstr>DISADVANTAGES OF EXISTING SYSTEM </vt:lpstr>
      <vt:lpstr>PowerPoint Presentation</vt:lpstr>
      <vt:lpstr>ADVANTAGS OF PROPOSED SYSTEM</vt:lpstr>
      <vt:lpstr>HARDWARE REQUIREMENTS </vt:lpstr>
      <vt:lpstr>SOFTWARE REQUIREMENTS</vt:lpstr>
      <vt:lpstr>SYSTEM ARCHITECTURE </vt:lpstr>
      <vt:lpstr>UML DIAGRAMS </vt:lpstr>
      <vt:lpstr>USE CASE DIAGRAM</vt:lpstr>
      <vt:lpstr>CLASS DIAGRAM</vt:lpstr>
      <vt:lpstr>SEQUENCE DIAGRAM</vt:lpstr>
      <vt:lpstr> CODE </vt:lpstr>
      <vt:lpstr>CODE</vt:lpstr>
      <vt:lpstr> CODE  </vt:lpstr>
      <vt:lpstr>OU T P U T SCREENS</vt:lpstr>
      <vt:lpstr>OU T P U T SCREENS</vt:lpstr>
      <vt:lpstr>OU T P U T SCREENS</vt:lpstr>
      <vt:lpstr>OU T P U T SCREENS</vt:lpstr>
      <vt:lpstr>OU T P U T SCREENS</vt:lpstr>
      <vt:lpstr>CONCLUSION</vt:lpstr>
      <vt:lpstr>REFERENCES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Virat Shiva</dc:creator>
  <cp:lastModifiedBy>Virat Shiva</cp:lastModifiedBy>
  <cp:revision>3</cp:revision>
  <dcterms:created xsi:type="dcterms:W3CDTF">2026-01-28T04:44:55Z</dcterms:created>
  <dcterms:modified xsi:type="dcterms:W3CDTF">2026-01-28T06:22:47Z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2026-01-27T00:00:00Z</vt:filetime>
  </property>
  <property fmtid="{D5CDD505-2E9C-101B-9397-08002B2CF9AE}" pid="3" name="LastSaved">
    <vt:filetime>2026-01-28T00:00:00Z</vt:filetime>
  </property>
</Properties>
</file>